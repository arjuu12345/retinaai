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68" r:id="rId8"/>
    <p:sldId id="264" r:id="rId9"/>
    <p:sldId id="265" r:id="rId10"/>
    <p:sldId id="266" r:id="rId11"/>
    <p:sldId id="259" r:id="rId12"/>
    <p:sldId id="274" r:id="rId13"/>
    <p:sldId id="267" r:id="rId14"/>
    <p:sldId id="288" r:id="rId15"/>
    <p:sldId id="289" r:id="rId16"/>
    <p:sldId id="290" r:id="rId17"/>
    <p:sldId id="291" r:id="rId18"/>
    <p:sldId id="286" r:id="rId19"/>
    <p:sldId id="287" r:id="rId20"/>
    <p:sldId id="271" r:id="rId21"/>
    <p:sldId id="275" r:id="rId22"/>
    <p:sldId id="272" r:id="rId23"/>
    <p:sldId id="277" r:id="rId24"/>
    <p:sldId id="279" r:id="rId25"/>
    <p:sldId id="283" r:id="rId26"/>
    <p:sldId id="281" r:id="rId27"/>
    <p:sldId id="285" r:id="rId28"/>
    <p:sldId id="269" r:id="rId29"/>
    <p:sldId id="270" r:id="rId30"/>
    <p:sldId id="263" r:id="rId31"/>
    <p:sldId id="294" r:id="rId32"/>
    <p:sldId id="284" r:id="rId33"/>
  </p:sldIdLst>
  <p:sldSz cx="18288000" cy="10287000"/>
  <p:notesSz cx="6858000" cy="9144000"/>
  <p:embeddedFontLs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Lato Bold" panose="020F0502020204030203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retinaaibyarj.streamlit.app/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67000" y="419100"/>
            <a:ext cx="13623689" cy="7360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73"/>
              </a:lnSpc>
            </a:pPr>
            <a:r>
              <a:rPr lang="en-US" sz="8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DIABETIC RETINOPATHY</a:t>
            </a:r>
          </a:p>
          <a:p>
            <a:pPr algn="l">
              <a:lnSpc>
                <a:spcPts val="8173"/>
              </a:lnSpc>
            </a:pPr>
            <a:r>
              <a:rPr lang="en-US" sz="8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SEVERITY CLASSIFICATION</a:t>
            </a:r>
          </a:p>
          <a:p>
            <a:pPr algn="l">
              <a:lnSpc>
                <a:spcPts val="8173"/>
              </a:lnSpc>
            </a:pPr>
            <a:r>
              <a:rPr lang="en-US" sz="8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USING VISION TRANSFORMER</a:t>
            </a:r>
          </a:p>
          <a:p>
            <a:pPr algn="l">
              <a:lnSpc>
                <a:spcPts val="8173"/>
              </a:lnSpc>
            </a:pPr>
            <a:endParaRPr lang="en-US" sz="8173" b="1" dirty="0">
              <a:solidFill>
                <a:srgbClr val="253439"/>
              </a:solidFill>
              <a:latin typeface="Times New Roman" panose="02020603050405020304" pitchFamily="18" charset="0"/>
              <a:ea typeface="Lato Bold"/>
              <a:cs typeface="Times New Roman" panose="02020603050405020304" pitchFamily="18" charset="0"/>
              <a:sym typeface="Lato Bold"/>
            </a:endParaRPr>
          </a:p>
          <a:p>
            <a:pPr algn="l">
              <a:lnSpc>
                <a:spcPts val="8173"/>
              </a:lnSpc>
            </a:pPr>
            <a:endParaRPr lang="en-US" sz="8173" b="1" dirty="0">
              <a:solidFill>
                <a:srgbClr val="253439"/>
              </a:solidFill>
              <a:latin typeface="Times New Roman" panose="02020603050405020304" pitchFamily="18" charset="0"/>
              <a:ea typeface="Lato Bold"/>
              <a:cs typeface="Times New Roman" panose="02020603050405020304" pitchFamily="18" charset="0"/>
              <a:sym typeface="Lat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372351" y="8434058"/>
            <a:ext cx="8457083" cy="47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69"/>
              </a:lnSpc>
            </a:pPr>
            <a:r>
              <a:rPr lang="en-US" sz="2800" dirty="0">
                <a:solidFill>
                  <a:srgbClr val="25343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ARJUN AJAYAKUMAR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05800" y="8955405"/>
            <a:ext cx="8457083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2400" dirty="0">
                <a:solidFill>
                  <a:srgbClr val="25343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ROLL NO:16 </a:t>
            </a:r>
          </a:p>
        </p:txBody>
      </p:sp>
      <p:grpSp>
        <p:nvGrpSpPr>
          <p:cNvPr id="5" name="Group 5"/>
          <p:cNvGrpSpPr/>
          <p:nvPr/>
        </p:nvGrpSpPr>
        <p:grpSpPr>
          <a:xfrm rot="-5400000">
            <a:off x="8454937" y="-151926"/>
            <a:ext cx="76200" cy="11429051"/>
            <a:chOff x="0" y="0"/>
            <a:chExt cx="301173" cy="7204422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 dirty="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16829434" y="144337"/>
            <a:ext cx="1352255" cy="274763"/>
            <a:chOff x="0" y="0"/>
            <a:chExt cx="1803007" cy="366350"/>
          </a:xfrm>
        </p:grpSpPr>
        <p:grpSp>
          <p:nvGrpSpPr>
            <p:cNvPr id="16" name="Group 16"/>
            <p:cNvGrpSpPr/>
            <p:nvPr/>
          </p:nvGrpSpPr>
          <p:grpSpPr>
            <a:xfrm rot="-5400000">
              <a:off x="0" y="0"/>
              <a:ext cx="366350" cy="366350"/>
              <a:chOff x="0" y="0"/>
              <a:chExt cx="178795" cy="17879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78795" cy="178795"/>
              </a:xfrm>
              <a:custGeom>
                <a:avLst/>
                <a:gdLst/>
                <a:ahLst/>
                <a:cxnLst/>
                <a:rect l="l" t="t" r="r" b="b"/>
                <a:pathLst>
                  <a:path w="178795" h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5400000">
              <a:off x="718328" y="0"/>
              <a:ext cx="366350" cy="366350"/>
              <a:chOff x="0" y="0"/>
              <a:chExt cx="178795" cy="17879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78795" cy="178795"/>
              </a:xfrm>
              <a:custGeom>
                <a:avLst/>
                <a:gdLst/>
                <a:ahLst/>
                <a:cxnLst/>
                <a:rect l="l" t="t" r="r" b="b"/>
                <a:pathLst>
                  <a:path w="178795" h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5400000">
              <a:off x="1436657" y="0"/>
              <a:ext cx="366350" cy="366350"/>
              <a:chOff x="0" y="0"/>
              <a:chExt cx="178795" cy="17879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78795" cy="178795"/>
              </a:xfrm>
              <a:custGeom>
                <a:avLst/>
                <a:gdLst/>
                <a:ahLst/>
                <a:cxnLst/>
                <a:rect l="l" t="t" r="r" b="b"/>
                <a:pathLst>
                  <a:path w="178795" h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-381720" y="-218676"/>
            <a:ext cx="1410420" cy="10724351"/>
            <a:chOff x="0" y="0"/>
            <a:chExt cx="371469" cy="282452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7C898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-229320" y="-66276"/>
            <a:ext cx="1258020" cy="1655660"/>
            <a:chOff x="0" y="0"/>
            <a:chExt cx="331330" cy="4360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31330" cy="436059"/>
            </a:xfrm>
            <a:custGeom>
              <a:avLst/>
              <a:gdLst/>
              <a:ahLst/>
              <a:cxnLst/>
              <a:rect l="l" t="t" r="r" b="b"/>
              <a:pathLst>
                <a:path w="331330" h="436059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54095" y="7442998"/>
            <a:ext cx="12545328" cy="654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85"/>
              </a:lnSpc>
              <a:spcBef>
                <a:spcPct val="0"/>
              </a:spcBef>
            </a:pPr>
            <a:endParaRPr lang="en-US" sz="3200" u="none" strike="noStrike" spc="-84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19834" y="737551"/>
            <a:ext cx="8323536" cy="972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ABSTRACT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19F695AA-F062-4814-93D4-DEC78BEEEC78}"/>
              </a:ext>
            </a:extLst>
          </p:cNvPr>
          <p:cNvGrpSpPr/>
          <p:nvPr/>
        </p:nvGrpSpPr>
        <p:grpSpPr>
          <a:xfrm rot="-5400000" flipH="1">
            <a:off x="2900452" y="-153287"/>
            <a:ext cx="246698" cy="3973522"/>
            <a:chOff x="-1" y="0"/>
            <a:chExt cx="301174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181F274A-46DB-407A-8A9B-0B5A2863160D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1381C54B-56F9-44BD-8369-F71E8836C29E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534CC596-A318-412C-97AE-2F3FEAF4F7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A8F3015C-29B0-4DB8-B46A-2F6CEA54036B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1BF019B-8E6E-4906-8AAD-96F4774DD637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65AA291-E996-49A7-9A8A-028320A2F8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592B8297-8032-4703-AB96-1668C1849690}"/>
                </a:ext>
              </a:extLst>
            </p:cNvPr>
            <p:cNvSpPr txBox="1"/>
            <p:nvPr/>
          </p:nvSpPr>
          <p:spPr>
            <a:xfrm>
              <a:off x="-1" y="1635317"/>
              <a:ext cx="301173" cy="988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885AF7B3-1A9E-4970-BDF9-09F326184545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40542F0-4A84-41F2-AE96-0ED012BE8D2A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EC32D86-50A0-49F0-AB52-E1C03C7501FF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8" name="Rectangle 2">
            <a:extLst>
              <a:ext uri="{FF2B5EF4-FFF2-40B4-BE49-F238E27FC236}">
                <a16:creationId xmlns:a16="http://schemas.microsoft.com/office/drawing/2014/main" id="{06779901-926F-385D-9F6B-B14A71DE8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442" y="2883009"/>
            <a:ext cx="13650596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Diabetic Retinopathy is a serious eye disease that can cause blindness if not detected early.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is time-consuming and requires specialists.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automated system to classify DR severity from retinal images.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are preprocessed and analyzed using a Vision Transformer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the disease into five severity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fast, accurate results through a simple web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early detection and improves screening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08080" y="1676400"/>
            <a:ext cx="10126578" cy="94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Problem Identification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FF3CD30A-77E8-4F15-AFC2-82775DBA7BE4}"/>
              </a:ext>
            </a:extLst>
          </p:cNvPr>
          <p:cNvGrpSpPr/>
          <p:nvPr/>
        </p:nvGrpSpPr>
        <p:grpSpPr>
          <a:xfrm rot="-5400000" flipH="1">
            <a:off x="4729786" y="-870913"/>
            <a:ext cx="307489" cy="7301741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F07EF8D1-0B2A-4263-8636-D36BD8CA82BF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01057C7C-F81C-4CD5-A673-FBDF69906C68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13888F9D-5A30-4B28-9E4B-8A4776D771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DEE3CB08-6EA7-4A2D-AE36-A341467F9297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964DADA-CFC3-4A08-85E9-9E88504E8AEA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619BCC2-A316-436A-B2D8-40AD358190B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377A5881-555C-4F48-8EF7-8C983FFB6113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C32E6F1B-29C2-4949-9E98-CD100C5801F8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34CA8DE9-3540-4347-9535-8DE5D9721EF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5C16AECB-E2B4-4C47-8299-350C225C26E7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7009BF95-E93A-49EE-8F1F-47874917F2EE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7D27092E-00EC-4BDD-9A5C-35FC119050EF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85096E9-BEBD-386F-2FA7-C0B65F20DDD5}"/>
              </a:ext>
            </a:extLst>
          </p:cNvPr>
          <p:cNvSpPr txBox="1"/>
          <p:nvPr/>
        </p:nvSpPr>
        <p:spPr>
          <a:xfrm>
            <a:off x="1600200" y="3238500"/>
            <a:ext cx="122830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Increasing number of diabetic patients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is slow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experienced ophthalmologists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large-scale screening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medical experts in rural areas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2CEED-F3D2-E072-A863-719E5C7A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96B853F-6EF8-9F45-1891-BD703E40DA0A}"/>
              </a:ext>
            </a:extLst>
          </p:cNvPr>
          <p:cNvSpPr txBox="1"/>
          <p:nvPr/>
        </p:nvSpPr>
        <p:spPr>
          <a:xfrm>
            <a:off x="1600200" y="2856007"/>
            <a:ext cx="11789002" cy="554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31"/>
              </a:lnSpc>
            </a:pPr>
            <a:endParaRPr sz="3200" dirty="0"/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Diab</a:t>
            </a:r>
            <a:r>
              <a:rPr lang="en-US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etic Retinopathy is a major cause of vision loss</a:t>
            </a:r>
          </a:p>
          <a:p>
            <a:pPr marL="457200" lvl="0" indent="-457200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Manual diagnosis requires expert ophthalmologists</a:t>
            </a: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Process is time-consuming and subjective</a:t>
            </a: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Large-scale screening is difficult</a:t>
            </a:r>
          </a:p>
          <a:p>
            <a:pPr marL="457200" lvl="0" indent="-457200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Need for an automated, accurate, and efficient system</a:t>
            </a: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4C50A08-082F-F828-082B-616800083EFF}"/>
              </a:ext>
            </a:extLst>
          </p:cNvPr>
          <p:cNvSpPr txBox="1"/>
          <p:nvPr/>
        </p:nvSpPr>
        <p:spPr>
          <a:xfrm>
            <a:off x="1208080" y="1676400"/>
            <a:ext cx="10126578" cy="94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Problem Statement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AB5E095B-E648-EEC0-AFF0-F1ACBB85F310}"/>
              </a:ext>
            </a:extLst>
          </p:cNvPr>
          <p:cNvGrpSpPr/>
          <p:nvPr/>
        </p:nvGrpSpPr>
        <p:grpSpPr>
          <a:xfrm rot="-5400000" flipH="1">
            <a:off x="4184096" y="-349804"/>
            <a:ext cx="383687" cy="6335720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ABED1301-BFA0-AE93-BF8F-8A40F8205439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457E693B-803D-6573-33AD-2724DD31DBA7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E90901F5-6211-7225-F7B8-1A4F4D4FA1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EB5AFDC6-5482-3051-15E7-C805387B6F45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8A62E31-37A0-D9F8-2D30-0BCA40130D35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B90AF74-446C-D2B9-7D60-C994ABE685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96551910-393B-9F11-577E-333594691127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C6CC7624-91A5-6170-23CB-8EB54808CB61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5845320C-CB01-A496-1208-E30A33C8299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9D224E2A-D75E-5F2B-F26B-7CF30724C5CF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22731054-C593-A707-06E8-41C3F8AAB13A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44614264-6500-A89C-5CED-6946B09A6B44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40996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C3ADB-4E86-7926-A6B9-E6199CC17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DF9BBFD-70CF-6DB8-8A14-8FCD08440AEC}"/>
              </a:ext>
            </a:extLst>
          </p:cNvPr>
          <p:cNvSpPr txBox="1"/>
          <p:nvPr/>
        </p:nvSpPr>
        <p:spPr>
          <a:xfrm>
            <a:off x="1600200" y="2856007"/>
            <a:ext cx="11789002" cy="202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31"/>
              </a:lnSpc>
            </a:pPr>
            <a:endParaRPr sz="3200" dirty="0"/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268210C-701D-858D-C3D4-6A33CFCEB564}"/>
              </a:ext>
            </a:extLst>
          </p:cNvPr>
          <p:cNvSpPr txBox="1"/>
          <p:nvPr/>
        </p:nvSpPr>
        <p:spPr>
          <a:xfrm>
            <a:off x="1208080" y="1676400"/>
            <a:ext cx="10126578" cy="931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Proposed System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A700C661-916F-214A-2D87-FA6929917AC5}"/>
              </a:ext>
            </a:extLst>
          </p:cNvPr>
          <p:cNvGrpSpPr/>
          <p:nvPr/>
        </p:nvGrpSpPr>
        <p:grpSpPr>
          <a:xfrm rot="-5400000" flipH="1">
            <a:off x="3537739" y="273292"/>
            <a:ext cx="304803" cy="4964120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61005626-82E1-9414-CC36-2E51399A1083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58085D99-6CBD-60FB-5A5D-5763AD096BC4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CDD07DA5-D44E-B916-FF92-C3156A47F7B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A39A640B-6EAC-EB9C-1324-CAA6BC3A8E0E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6078E94-EE8E-2B10-AD90-719551D0DDA5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EF0D070-31DE-2671-F3A0-039ED2234F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872EE429-57AF-E5F4-79E7-A0C4EC5CA222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49D2BE40-F8FC-3BC4-0ADE-F33B06339AE3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4F7B23F8-2CFA-C86C-371B-688EBC9E67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27418CEC-42D6-AFD4-8E3E-BAAEB51E9C32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72240E59-7EB9-3EFF-E9D7-13129B6F0499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1AA1B959-0A83-3ECB-F8DF-9867A43FFA35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Rectangle 1">
            <a:extLst>
              <a:ext uri="{FF2B5EF4-FFF2-40B4-BE49-F238E27FC236}">
                <a16:creationId xmlns:a16="http://schemas.microsoft.com/office/drawing/2014/main" id="{BDA385A9-EC7E-009D-56D6-CD945BDA9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695" y="3097278"/>
            <a:ext cx="1383070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system to detect Diabetic Retinopathy severity from retinal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upload retinal fundus images through a web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are preprocessed to improve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Vision Transformer model analyzes the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predicts the DR severity level with confidence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 and accurate results for early diagnosis</a:t>
            </a:r>
          </a:p>
        </p:txBody>
      </p:sp>
    </p:spTree>
    <p:extLst>
      <p:ext uri="{BB962C8B-B14F-4D97-AF65-F5344CB8AC3E}">
        <p14:creationId xmlns:p14="http://schemas.microsoft.com/office/powerpoint/2010/main" val="354292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AF2D6-F9BD-CB46-5DC5-88DDC13CE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8E94B2B-5FB3-2DE0-1219-49A40BCC6FED}"/>
              </a:ext>
            </a:extLst>
          </p:cNvPr>
          <p:cNvSpPr txBox="1"/>
          <p:nvPr/>
        </p:nvSpPr>
        <p:spPr>
          <a:xfrm>
            <a:off x="1600200" y="2856007"/>
            <a:ext cx="11789002" cy="202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31"/>
              </a:lnSpc>
            </a:pPr>
            <a:endParaRPr sz="3200" dirty="0"/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ED90BB8-60AA-2347-50EF-AC542C1E950E}"/>
              </a:ext>
            </a:extLst>
          </p:cNvPr>
          <p:cNvSpPr txBox="1"/>
          <p:nvPr/>
        </p:nvSpPr>
        <p:spPr>
          <a:xfrm>
            <a:off x="1050695" y="419100"/>
            <a:ext cx="10126578" cy="94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Modules of Proposed System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D39DB909-68ED-EB7E-510F-C5DD1E26D08D}"/>
              </a:ext>
            </a:extLst>
          </p:cNvPr>
          <p:cNvGrpSpPr/>
          <p:nvPr/>
        </p:nvGrpSpPr>
        <p:grpSpPr>
          <a:xfrm rot="-5400000" flipH="1">
            <a:off x="5656025" y="-3064226"/>
            <a:ext cx="270352" cy="9144002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27AD4037-240E-120A-1210-13C4000415A9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CDA2E193-B60A-F14C-498A-4D9F51C92A8E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C3A522D1-32C7-52B7-6B25-266C1CA617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25C87FD5-972D-CE64-1A78-5395DDA172FD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FE4567B-6258-3C65-5CD5-318DC909D7C6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E865CD7-7D15-0A4E-A820-D38875538AF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20302E78-198B-7268-5031-307676D895F7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15A188CD-9E25-FF5F-DAAD-1EEA395F30E1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73D33804-55AA-2B23-790F-74A35F493D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FA123343-763B-F019-0BDD-90A298648521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DDDFE9C7-2002-7CF6-CAB9-13D30EC96261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3B6C10D7-975C-B8B6-D774-FEBABD6AAC5A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22BC0C3-06E7-12F5-7674-A3B3B2F1153C}"/>
              </a:ext>
            </a:extLst>
          </p:cNvPr>
          <p:cNvSpPr txBox="1"/>
          <p:nvPr/>
        </p:nvSpPr>
        <p:spPr>
          <a:xfrm>
            <a:off x="1282032" y="1912993"/>
            <a:ext cx="925461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Module 1: Image Upload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Allows users to upload retinal images.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Module 2: Image Preprocessing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Image resizing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Normalization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Contrast enhancement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Module 3: Model Prediction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Vision Transformer </a:t>
            </a: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analyzes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image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Classifies DR severity level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Module 4: Result Display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Shows predicted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Displays confidence score</a:t>
            </a:r>
          </a:p>
        </p:txBody>
      </p:sp>
    </p:spTree>
    <p:extLst>
      <p:ext uri="{BB962C8B-B14F-4D97-AF65-F5344CB8AC3E}">
        <p14:creationId xmlns:p14="http://schemas.microsoft.com/office/powerpoint/2010/main" val="265392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D8A65-8B42-56E6-0288-CB1EB6C4B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B0483B-F6D9-A600-6E0A-50672FAF4AA0}"/>
              </a:ext>
            </a:extLst>
          </p:cNvPr>
          <p:cNvSpPr txBox="1"/>
          <p:nvPr/>
        </p:nvSpPr>
        <p:spPr>
          <a:xfrm>
            <a:off x="1600200" y="2856007"/>
            <a:ext cx="11789002" cy="202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31"/>
              </a:lnSpc>
            </a:pPr>
            <a:endParaRPr sz="3200" dirty="0"/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5428FB4-2380-624C-40D3-A97D9119849A}"/>
              </a:ext>
            </a:extLst>
          </p:cNvPr>
          <p:cNvSpPr txBox="1"/>
          <p:nvPr/>
        </p:nvSpPr>
        <p:spPr>
          <a:xfrm>
            <a:off x="685800" y="645454"/>
            <a:ext cx="10976565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Tools and Technologies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F2E0C7FA-F8D3-DE2D-7BD0-2B5FC1E8B445}"/>
              </a:ext>
            </a:extLst>
          </p:cNvPr>
          <p:cNvGrpSpPr/>
          <p:nvPr/>
        </p:nvGrpSpPr>
        <p:grpSpPr>
          <a:xfrm rot="-5400000" flipH="1">
            <a:off x="4305437" y="-1904863"/>
            <a:ext cx="304528" cy="7239002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D1597394-D1C8-049A-A126-77A105562904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A9C17B9F-2B45-E903-30A3-89F2994E0F36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4A629C34-0A29-0A47-2DCE-0DF1FE280B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9EED2F5C-6781-9D0C-EA4F-11C70A3B9E0F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3327302-FA6F-68F1-93BB-95853B86A289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E815556-196B-9FB3-89AA-4F544B10ADF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2147A87D-71BB-B5B7-6F2C-7B884A009046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B0C42CBB-D164-58FD-DFF0-457C74573FC9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59FD6E0F-9211-08CD-25DF-34D38BC0E3E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D007014A-E6E5-CB88-2799-B9AA6D7F0D1A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376ACB00-3832-851F-E00A-A0E2294EE8C2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92E60AC-79B4-DAE0-6061-0B849018B6DE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Rectangle 1">
            <a:extLst>
              <a:ext uri="{FF2B5EF4-FFF2-40B4-BE49-F238E27FC236}">
                <a16:creationId xmlns:a16="http://schemas.microsoft.com/office/drawing/2014/main" id="{7B1695C0-B94A-DBFB-8564-288A4282A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7" y="1373060"/>
            <a:ext cx="13673321" cy="8648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Python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JavaScript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TensorFlow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OpenCV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Pillow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Framework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Flask</a:t>
            </a:r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HTML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CSS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JavaScript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Google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VS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90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80621" y="2781300"/>
            <a:ext cx="11176981" cy="4341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868"/>
              </a:lnSpc>
              <a:spcBef>
                <a:spcPct val="0"/>
              </a:spcBef>
            </a:pPr>
            <a:endParaRPr lang="en-US" sz="2800" spc="-6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just">
              <a:lnSpc>
                <a:spcPts val="4868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No DR</a:t>
            </a:r>
          </a:p>
          <a:p>
            <a:pPr marL="457200" lvl="0" indent="-457200" algn="just">
              <a:lnSpc>
                <a:spcPts val="5008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b="1" spc="-71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M</a:t>
            </a:r>
            <a:r>
              <a:rPr lang="en-US" sz="2800" b="1" u="none" strike="noStrike" spc="-71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i</a:t>
            </a:r>
            <a:r>
              <a:rPr lang="en-US" sz="2800" b="1" spc="-71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ld</a:t>
            </a:r>
          </a:p>
          <a:p>
            <a:pPr marL="457200" lvl="0" indent="-457200" algn="just">
              <a:lnSpc>
                <a:spcPts val="4868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M</a:t>
            </a:r>
            <a:r>
              <a:rPr lang="en-US" sz="2800" b="1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o</a:t>
            </a: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d</a:t>
            </a:r>
            <a:r>
              <a:rPr lang="en-US" sz="2800" b="1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er</a:t>
            </a: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at</a:t>
            </a:r>
            <a:r>
              <a:rPr lang="en-US" sz="2800" b="1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e</a:t>
            </a:r>
          </a:p>
          <a:p>
            <a:pPr marL="457200" lvl="0" indent="-457200" algn="just">
              <a:lnSpc>
                <a:spcPts val="4868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S</a:t>
            </a:r>
            <a:r>
              <a:rPr lang="en-US" sz="2800" b="1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e</a:t>
            </a: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v</a:t>
            </a:r>
            <a:r>
              <a:rPr lang="en-US" sz="2800" b="1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er</a:t>
            </a: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e</a:t>
            </a:r>
          </a:p>
          <a:p>
            <a:pPr marL="457200" lvl="0" indent="-457200" algn="just">
              <a:lnSpc>
                <a:spcPts val="4868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b="1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Pro</a:t>
            </a: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l</a:t>
            </a:r>
            <a:r>
              <a:rPr lang="en-US" sz="2800" b="1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i</a:t>
            </a: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f</a:t>
            </a:r>
            <a:r>
              <a:rPr lang="en-US" sz="2800" b="1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e</a:t>
            </a: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r</a:t>
            </a:r>
            <a:r>
              <a:rPr lang="en-US" sz="2800" b="1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ative</a:t>
            </a:r>
            <a:r>
              <a:rPr lang="en-US" sz="2800" b="1" u="none" strike="noStrike" spc="-69" dirty="0">
                <a:solidFill>
                  <a:srgbClr val="1C191A"/>
                </a:solidFill>
                <a:latin typeface="Lato Bold"/>
                <a:ea typeface="Lato Bold"/>
                <a:cs typeface="Lato Bold"/>
                <a:sym typeface="Lato Bold"/>
              </a:rPr>
              <a:t> DR</a:t>
            </a:r>
          </a:p>
          <a:p>
            <a:pPr marL="0" lvl="0" indent="0" algn="just">
              <a:lnSpc>
                <a:spcPts val="4868"/>
              </a:lnSpc>
              <a:spcBef>
                <a:spcPct val="0"/>
              </a:spcBef>
            </a:pPr>
            <a:endParaRPr lang="en-US" sz="3200" spc="-6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345474"/>
            <a:ext cx="10126578" cy="94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Disease Classification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962F587-FFDC-460B-8F34-7A19E3CAB9D4}"/>
              </a:ext>
            </a:extLst>
          </p:cNvPr>
          <p:cNvGrpSpPr/>
          <p:nvPr/>
        </p:nvGrpSpPr>
        <p:grpSpPr>
          <a:xfrm rot="-5400000" flipH="1">
            <a:off x="4339803" y="-1032296"/>
            <a:ext cx="350095" cy="6972302"/>
            <a:chOff x="0" y="0"/>
            <a:chExt cx="301173" cy="7204422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A43CB3D-1664-4ED0-BE7B-E33CBCEAAE1C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0FB293CD-5087-4820-B9F1-D76CEDFA5029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6936450D-ABA8-4E49-A76B-0A39ACDBB4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68314916-AEFE-460F-8BC3-71661F7B4A26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4B10B2B-F56F-463C-8F6A-1D1D1CCF625B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342696-8AD9-447E-82A2-31ED6458A48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8" name="Group 12">
              <a:extLst>
                <a:ext uri="{FF2B5EF4-FFF2-40B4-BE49-F238E27FC236}">
                  <a16:creationId xmlns:a16="http://schemas.microsoft.com/office/drawing/2014/main" id="{E66D95EB-98A9-47AA-AC70-F7CB5CCFFE9D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139AAAD8-BD66-4B6B-985A-01145E3F19BA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0" name="TextBox 14">
                <a:extLst>
                  <a:ext uri="{FF2B5EF4-FFF2-40B4-BE49-F238E27FC236}">
                    <a16:creationId xmlns:a16="http://schemas.microsoft.com/office/drawing/2014/main" id="{9D079A2B-0AE8-4386-BD99-98C4D072691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CF10531B-E3FD-40A4-8BEF-39398B206650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357D6FE-E8E6-4FEE-925C-1220E949361F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733DB026-405C-4FF0-AF73-29CE3F3F9766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3C8E3C-B1F8-9108-40DD-F64220CE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567AE08-DC4C-1C6C-3E8F-6AB27B23069F}"/>
              </a:ext>
            </a:extLst>
          </p:cNvPr>
          <p:cNvSpPr txBox="1"/>
          <p:nvPr/>
        </p:nvSpPr>
        <p:spPr>
          <a:xfrm rot="10800000" flipV="1">
            <a:off x="4571999" y="3641153"/>
            <a:ext cx="11897951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Literature Review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F4D8A63-98DC-CE03-E1B4-05201B5B0505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EEB6457-45BD-628B-F0A8-56F10601ED1F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95AFC30-88FF-4808-894D-E10C0F5C5673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D3ADD31-84DB-7241-E500-787CE844BC74}"/>
              </a:ext>
            </a:extLst>
          </p:cNvPr>
          <p:cNvGrpSpPr/>
          <p:nvPr/>
        </p:nvGrpSpPr>
        <p:grpSpPr>
          <a:xfrm>
            <a:off x="17103111" y="-66276"/>
            <a:ext cx="1258020" cy="1655660"/>
            <a:chOff x="0" y="0"/>
            <a:chExt cx="331330" cy="436059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024BE93-11C9-4914-12E5-ADB169AD9710}"/>
                </a:ext>
              </a:extLst>
            </p:cNvPr>
            <p:cNvSpPr/>
            <p:nvPr/>
          </p:nvSpPr>
          <p:spPr>
            <a:xfrm>
              <a:off x="0" y="0"/>
              <a:ext cx="331330" cy="436059"/>
            </a:xfrm>
            <a:custGeom>
              <a:avLst/>
              <a:gdLst/>
              <a:ahLst/>
              <a:cxnLst/>
              <a:rect l="l" t="t" r="r" b="b"/>
              <a:pathLst>
                <a:path w="331330" h="436059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ACF4CD8-48DA-6BBA-96FF-BA9DC99B6189}"/>
                </a:ext>
              </a:extLst>
            </p:cNvPr>
            <p:cNvSpPr txBox="1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85F648FB-C432-6B46-3CEF-E2EAC04088EA}"/>
              </a:ext>
            </a:extLst>
          </p:cNvPr>
          <p:cNvGrpSpPr/>
          <p:nvPr/>
        </p:nvGrpSpPr>
        <p:grpSpPr>
          <a:xfrm rot="-5400000" flipH="1">
            <a:off x="7305631" y="1857334"/>
            <a:ext cx="323937" cy="5791199"/>
            <a:chOff x="0" y="-192881"/>
            <a:chExt cx="301173" cy="7397303"/>
          </a:xfrm>
        </p:grpSpPr>
        <p:grpSp>
          <p:nvGrpSpPr>
            <p:cNvPr id="11" name="Group 6">
              <a:extLst>
                <a:ext uri="{FF2B5EF4-FFF2-40B4-BE49-F238E27FC236}">
                  <a16:creationId xmlns:a16="http://schemas.microsoft.com/office/drawing/2014/main" id="{D9AFAC3E-DFED-E8A2-F02C-9CF826632AFA}"/>
                </a:ext>
              </a:extLst>
            </p:cNvPr>
            <p:cNvGrpSpPr/>
            <p:nvPr/>
          </p:nvGrpSpPr>
          <p:grpSpPr>
            <a:xfrm>
              <a:off x="0" y="-192881"/>
              <a:ext cx="301173" cy="7397303"/>
              <a:chOff x="0" y="-38100"/>
              <a:chExt cx="59491" cy="1461196"/>
            </a:xfrm>
          </p:grpSpPr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B71903C3-DF64-C84B-B5CC-AB7B47D020E8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14B1411A-30DC-D17D-DC05-F4CB275438B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1458402A-3EA3-DB3C-D520-AC8FE3D5A325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6" name="Freeform 10">
                <a:extLst>
                  <a:ext uri="{FF2B5EF4-FFF2-40B4-BE49-F238E27FC236}">
                    <a16:creationId xmlns:a16="http://schemas.microsoft.com/office/drawing/2014/main" id="{D867FE51-B7E7-E0A2-21E7-E57E9D5AEAC5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1">
                <a:extLst>
                  <a:ext uri="{FF2B5EF4-FFF2-40B4-BE49-F238E27FC236}">
                    <a16:creationId xmlns:a16="http://schemas.microsoft.com/office/drawing/2014/main" id="{51C4635C-C872-31F4-2980-FAF22E21975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7642DBB-49A4-2EC8-AABA-52F8D83A64F7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CFC75C94-0543-2E38-F82E-A77DB634A9A0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06F4CC-3147-44D5-997D-CE68E8EB31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5462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326F3-0C00-4A95-AE9E-F7CDAD275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1C80CA4-2B69-76C6-A103-B7C52F072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496123"/>
              </p:ext>
            </p:extLst>
          </p:nvPr>
        </p:nvGraphicFramePr>
        <p:xfrm>
          <a:off x="762000" y="495300"/>
          <a:ext cx="15849600" cy="8610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47735">
                  <a:extLst>
                    <a:ext uri="{9D8B030D-6E8A-4147-A177-3AD203B41FA5}">
                      <a16:colId xmlns:a16="http://schemas.microsoft.com/office/drawing/2014/main" val="82853579"/>
                    </a:ext>
                  </a:extLst>
                </a:gridCol>
                <a:gridCol w="2710065">
                  <a:extLst>
                    <a:ext uri="{9D8B030D-6E8A-4147-A177-3AD203B41FA5}">
                      <a16:colId xmlns:a16="http://schemas.microsoft.com/office/drawing/2014/main" val="420945658"/>
                    </a:ext>
                  </a:extLst>
                </a:gridCol>
                <a:gridCol w="2611505">
                  <a:extLst>
                    <a:ext uri="{9D8B030D-6E8A-4147-A177-3AD203B41FA5}">
                      <a16:colId xmlns:a16="http://schemas.microsoft.com/office/drawing/2014/main" val="2763223483"/>
                    </a:ext>
                  </a:extLst>
                </a:gridCol>
                <a:gridCol w="2660482">
                  <a:extLst>
                    <a:ext uri="{9D8B030D-6E8A-4147-A177-3AD203B41FA5}">
                      <a16:colId xmlns:a16="http://schemas.microsoft.com/office/drawing/2014/main" val="3455859760"/>
                    </a:ext>
                  </a:extLst>
                </a:gridCol>
                <a:gridCol w="3224827">
                  <a:extLst>
                    <a:ext uri="{9D8B030D-6E8A-4147-A177-3AD203B41FA5}">
                      <a16:colId xmlns:a16="http://schemas.microsoft.com/office/drawing/2014/main" val="3369095221"/>
                    </a:ext>
                  </a:extLst>
                </a:gridCol>
                <a:gridCol w="2094986">
                  <a:extLst>
                    <a:ext uri="{9D8B030D-6E8A-4147-A177-3AD203B41FA5}">
                      <a16:colId xmlns:a16="http://schemas.microsoft.com/office/drawing/2014/main" val="1063423281"/>
                    </a:ext>
                  </a:extLst>
                </a:gridCol>
              </a:tblGrid>
              <a:tr h="2559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EXTRACTED / 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</a:t>
                      </a:r>
                    </a:p>
                    <a:p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/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672980"/>
                  </a:ext>
                </a:extLst>
              </a:tr>
              <a:tr h="6050999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 Learning Based Model for Diabetic Retinopathy Grading (2025)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Samia Akhtar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(RSG-Net)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Histogram Equalization, Gaussian Blur, Data Augmentation (flip, rotate, zoom), CNN with Batch Normalization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Accuracy, Sensitivity, 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99.36% accuracy (4-class)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99.37% accuracy (binary classification)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Outperformed existing state-of-the-art methods.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29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23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0FB8A-3932-3961-917E-6F1A61B62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0D64966-1306-F0D6-CC18-580417D6E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67391"/>
              </p:ext>
            </p:extLst>
          </p:nvPr>
        </p:nvGraphicFramePr>
        <p:xfrm>
          <a:off x="609600" y="571500"/>
          <a:ext cx="15849599" cy="868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72107">
                  <a:extLst>
                    <a:ext uri="{9D8B030D-6E8A-4147-A177-3AD203B41FA5}">
                      <a16:colId xmlns:a16="http://schemas.microsoft.com/office/drawing/2014/main" val="82853579"/>
                    </a:ext>
                  </a:extLst>
                </a:gridCol>
                <a:gridCol w="2738551">
                  <a:extLst>
                    <a:ext uri="{9D8B030D-6E8A-4147-A177-3AD203B41FA5}">
                      <a16:colId xmlns:a16="http://schemas.microsoft.com/office/drawing/2014/main" val="420945658"/>
                    </a:ext>
                  </a:extLst>
                </a:gridCol>
                <a:gridCol w="2659735">
                  <a:extLst>
                    <a:ext uri="{9D8B030D-6E8A-4147-A177-3AD203B41FA5}">
                      <a16:colId xmlns:a16="http://schemas.microsoft.com/office/drawing/2014/main" val="2763223483"/>
                    </a:ext>
                  </a:extLst>
                </a:gridCol>
                <a:gridCol w="2503280">
                  <a:extLst>
                    <a:ext uri="{9D8B030D-6E8A-4147-A177-3AD203B41FA5}">
                      <a16:colId xmlns:a16="http://schemas.microsoft.com/office/drawing/2014/main" val="3455859760"/>
                    </a:ext>
                  </a:extLst>
                </a:gridCol>
                <a:gridCol w="3207328">
                  <a:extLst>
                    <a:ext uri="{9D8B030D-6E8A-4147-A177-3AD203B41FA5}">
                      <a16:colId xmlns:a16="http://schemas.microsoft.com/office/drawing/2014/main" val="3369095221"/>
                    </a:ext>
                  </a:extLst>
                </a:gridCol>
                <a:gridCol w="2268598">
                  <a:extLst>
                    <a:ext uri="{9D8B030D-6E8A-4147-A177-3AD203B41FA5}">
                      <a16:colId xmlns:a16="http://schemas.microsoft.com/office/drawing/2014/main" val="1063423281"/>
                    </a:ext>
                  </a:extLst>
                </a:gridCol>
              </a:tblGrid>
              <a:tr h="2764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EXTRACTED / 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</a:t>
                      </a:r>
                    </a:p>
                    <a:p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/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672980"/>
                  </a:ext>
                </a:extLst>
              </a:tr>
              <a:tr h="592201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Diabetic Retinopathy Detection Using Machine Learning (2025)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Reeta Shaktivel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ResNet50 + InceptionV3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 using pretrained models, fundus image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Accuracy, Sensitivity, Specificity,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98.65% average accuracy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improved early-stage detection compared to traditional ML models.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9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407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143DA-6CD4-E609-7547-BEF949BF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BF4F85C-18AF-5E07-6790-83FB2DE92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475744"/>
              </p:ext>
            </p:extLst>
          </p:nvPr>
        </p:nvGraphicFramePr>
        <p:xfrm>
          <a:off x="609600" y="342900"/>
          <a:ext cx="16306800" cy="8610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08035">
                  <a:extLst>
                    <a:ext uri="{9D8B030D-6E8A-4147-A177-3AD203B41FA5}">
                      <a16:colId xmlns:a16="http://schemas.microsoft.com/office/drawing/2014/main" val="82853579"/>
                    </a:ext>
                  </a:extLst>
                </a:gridCol>
                <a:gridCol w="2743773">
                  <a:extLst>
                    <a:ext uri="{9D8B030D-6E8A-4147-A177-3AD203B41FA5}">
                      <a16:colId xmlns:a16="http://schemas.microsoft.com/office/drawing/2014/main" val="420945658"/>
                    </a:ext>
                  </a:extLst>
                </a:gridCol>
                <a:gridCol w="2544392">
                  <a:extLst>
                    <a:ext uri="{9D8B030D-6E8A-4147-A177-3AD203B41FA5}">
                      <a16:colId xmlns:a16="http://schemas.microsoft.com/office/drawing/2014/main" val="2763223483"/>
                    </a:ext>
                  </a:extLst>
                </a:gridCol>
                <a:gridCol w="3323008">
                  <a:extLst>
                    <a:ext uri="{9D8B030D-6E8A-4147-A177-3AD203B41FA5}">
                      <a16:colId xmlns:a16="http://schemas.microsoft.com/office/drawing/2014/main" val="345585976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69095221"/>
                    </a:ext>
                  </a:extLst>
                </a:gridCol>
                <a:gridCol w="2239592">
                  <a:extLst>
                    <a:ext uri="{9D8B030D-6E8A-4147-A177-3AD203B41FA5}">
                      <a16:colId xmlns:a16="http://schemas.microsoft.com/office/drawing/2014/main" val="1063423281"/>
                    </a:ext>
                  </a:extLst>
                </a:gridCol>
              </a:tblGrid>
              <a:tr h="2823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EXTRACTED / 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</a:t>
                      </a:r>
                    </a:p>
                    <a:p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/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672980"/>
                  </a:ext>
                </a:extLst>
              </a:tr>
              <a:tr h="578662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Diabetic Retinopathy Detection Through Federated CNN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Saad Alanazi et al. — </a:t>
                      </a:r>
                      <a:r>
                        <a:rPr lang="en-IN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Alexandria Engineering Journal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Federated CNN + VGG19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SMOTE (class balancing), Wiener &amp; Median filtering, VGG-based feature extraction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scalable and privacy-preserving DR detection with improved multi-stage classification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9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7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B9D56-60FC-2360-9FC1-1F0D4BF3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AD09382-396B-ACDA-FAA5-EA5E41882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873681"/>
              </p:ext>
            </p:extLst>
          </p:nvPr>
        </p:nvGraphicFramePr>
        <p:xfrm>
          <a:off x="762000" y="495301"/>
          <a:ext cx="15849601" cy="88012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19668">
                  <a:extLst>
                    <a:ext uri="{9D8B030D-6E8A-4147-A177-3AD203B41FA5}">
                      <a16:colId xmlns:a16="http://schemas.microsoft.com/office/drawing/2014/main" val="82853579"/>
                    </a:ext>
                  </a:extLst>
                </a:gridCol>
                <a:gridCol w="2838132">
                  <a:extLst>
                    <a:ext uri="{9D8B030D-6E8A-4147-A177-3AD203B41FA5}">
                      <a16:colId xmlns:a16="http://schemas.microsoft.com/office/drawing/2014/main" val="420945658"/>
                    </a:ext>
                  </a:extLst>
                </a:gridCol>
                <a:gridCol w="2292508">
                  <a:extLst>
                    <a:ext uri="{9D8B030D-6E8A-4147-A177-3AD203B41FA5}">
                      <a16:colId xmlns:a16="http://schemas.microsoft.com/office/drawing/2014/main" val="2763223483"/>
                    </a:ext>
                  </a:extLst>
                </a:gridCol>
                <a:gridCol w="3139293">
                  <a:extLst>
                    <a:ext uri="{9D8B030D-6E8A-4147-A177-3AD203B41FA5}">
                      <a16:colId xmlns:a16="http://schemas.microsoft.com/office/drawing/2014/main" val="3455859760"/>
                    </a:ext>
                  </a:extLst>
                </a:gridCol>
                <a:gridCol w="3139293">
                  <a:extLst>
                    <a:ext uri="{9D8B030D-6E8A-4147-A177-3AD203B41FA5}">
                      <a16:colId xmlns:a16="http://schemas.microsoft.com/office/drawing/2014/main" val="3369095221"/>
                    </a:ext>
                  </a:extLst>
                </a:gridCol>
                <a:gridCol w="2020707">
                  <a:extLst>
                    <a:ext uri="{9D8B030D-6E8A-4147-A177-3AD203B41FA5}">
                      <a16:colId xmlns:a16="http://schemas.microsoft.com/office/drawing/2014/main" val="1063423281"/>
                    </a:ext>
                  </a:extLst>
                </a:gridCol>
              </a:tblGrid>
              <a:tr h="2484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EXTRACTED / 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</a:t>
                      </a:r>
                    </a:p>
                    <a:p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/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672980"/>
                  </a:ext>
                </a:extLst>
              </a:tr>
              <a:tr h="631708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Enhanced Prediction of Diabetic Retinopathy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Weijun Gong et al. — </a:t>
                      </a:r>
                      <a:r>
                        <a:rPr lang="en-IN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Frontiers in Medicine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Neural Network (DNN)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clinical data analysis, SHAP interpretability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Accuracy, F1-score,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DNN achieved 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0.778 accuracy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0.833 AUC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outperforming logistic regression, SVM, random forest and other ML models.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9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844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52B8D9-1524-15AD-CAF4-6B215352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3E398A1-97D3-E1C2-4A58-46BF2405C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735598"/>
              </p:ext>
            </p:extLst>
          </p:nvPr>
        </p:nvGraphicFramePr>
        <p:xfrm>
          <a:off x="609600" y="571500"/>
          <a:ext cx="17145000" cy="8610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65400">
                  <a:extLst>
                    <a:ext uri="{9D8B030D-6E8A-4147-A177-3AD203B41FA5}">
                      <a16:colId xmlns:a16="http://schemas.microsoft.com/office/drawing/2014/main" val="82853579"/>
                    </a:ext>
                  </a:extLst>
                </a:gridCol>
                <a:gridCol w="3117177">
                  <a:extLst>
                    <a:ext uri="{9D8B030D-6E8A-4147-A177-3AD203B41FA5}">
                      <a16:colId xmlns:a16="http://schemas.microsoft.com/office/drawing/2014/main" val="420945658"/>
                    </a:ext>
                  </a:extLst>
                </a:gridCol>
                <a:gridCol w="2841288">
                  <a:extLst>
                    <a:ext uri="{9D8B030D-6E8A-4147-A177-3AD203B41FA5}">
                      <a16:colId xmlns:a16="http://schemas.microsoft.com/office/drawing/2014/main" val="2763223483"/>
                    </a:ext>
                  </a:extLst>
                </a:gridCol>
                <a:gridCol w="3287135">
                  <a:extLst>
                    <a:ext uri="{9D8B030D-6E8A-4147-A177-3AD203B41FA5}">
                      <a16:colId xmlns:a16="http://schemas.microsoft.com/office/drawing/2014/main" val="345585976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6909522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063423281"/>
                    </a:ext>
                  </a:extLst>
                </a:gridCol>
              </a:tblGrid>
              <a:tr h="1516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EXTRACTED / 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</a:t>
                      </a:r>
                    </a:p>
                    <a:p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/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672980"/>
                  </a:ext>
                </a:extLst>
              </a:tr>
              <a:tr h="7094295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Diabetic Retinopathy (DR): Mechanisms, Current Therapies, and Emerging Strategies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Hyewon</a:t>
                      </a:r>
                      <a:r>
                        <a:rPr lang="fr-F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Seo</a:t>
                      </a:r>
                      <a:r>
                        <a:rPr lang="fr-F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— </a:t>
                      </a:r>
                      <a:r>
                        <a:rPr lang="fr-FR" sz="28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Cells</a:t>
                      </a:r>
                      <a:r>
                        <a:rPr lang="fr-FR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(MDPI)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Neural Network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Molecular mechanisms, Anti-VEGF therapy analysis, AI-based diagnosis discussion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outcome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limitations of current anti-VEGF therapies and highlighted need for AI-based early detection and advanced treatment strategies.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9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11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DC53E-3A1F-38F8-8B4A-1E42F430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88924BD-CFA9-7B64-4916-F884BA18C654}"/>
              </a:ext>
            </a:extLst>
          </p:cNvPr>
          <p:cNvSpPr txBox="1"/>
          <p:nvPr/>
        </p:nvSpPr>
        <p:spPr>
          <a:xfrm>
            <a:off x="609600" y="342900"/>
            <a:ext cx="11811000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Comparison With Existing System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E99B056-821D-B624-E8B2-7976401513DD}"/>
              </a:ext>
            </a:extLst>
          </p:cNvPr>
          <p:cNvGrpSpPr/>
          <p:nvPr/>
        </p:nvGrpSpPr>
        <p:grpSpPr>
          <a:xfrm rot="-5400000" flipH="1">
            <a:off x="6148264" y="-4100635"/>
            <a:ext cx="200272" cy="10972800"/>
            <a:chOff x="0" y="0"/>
            <a:chExt cx="301173" cy="7204422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DE89B362-72B4-D50F-54E7-544F04471CEE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55BF2652-1DDF-9AAA-BAB8-2FC326B4CA99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76F0FC7B-4DED-1977-7917-2468FE6999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05528CE8-A4F9-0042-A45C-5BB1540A3E93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24055CC-BB57-2343-015D-9EAB1C43007D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CF3C70-834A-2662-B62C-C8548AC855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8" name="Group 12">
              <a:extLst>
                <a:ext uri="{FF2B5EF4-FFF2-40B4-BE49-F238E27FC236}">
                  <a16:creationId xmlns:a16="http://schemas.microsoft.com/office/drawing/2014/main" id="{3C386849-7895-E999-4DDC-783639EAFBAE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7F262E87-6202-A171-6C10-83F2DC3E5738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0" name="TextBox 14">
                <a:extLst>
                  <a:ext uri="{FF2B5EF4-FFF2-40B4-BE49-F238E27FC236}">
                    <a16:creationId xmlns:a16="http://schemas.microsoft.com/office/drawing/2014/main" id="{D4493585-6A97-A4D0-73BF-4D5CD04730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BC3CB036-FFA6-AB74-049F-CED1DA10BDDD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4A2E72F4-ED38-D2EB-1158-B740AC03280B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9CAF96E2-A35E-7C59-F483-0D574C9DB4F8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610078-67EB-BA37-E7A3-8BE96D8E9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068943"/>
              </p:ext>
            </p:extLst>
          </p:nvPr>
        </p:nvGraphicFramePr>
        <p:xfrm>
          <a:off x="914400" y="2247183"/>
          <a:ext cx="14531118" cy="67541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57892">
                  <a:extLst>
                    <a:ext uri="{9D8B030D-6E8A-4147-A177-3AD203B41FA5}">
                      <a16:colId xmlns:a16="http://schemas.microsoft.com/office/drawing/2014/main" val="2569461332"/>
                    </a:ext>
                  </a:extLst>
                </a:gridCol>
                <a:gridCol w="4686613">
                  <a:extLst>
                    <a:ext uri="{9D8B030D-6E8A-4147-A177-3AD203B41FA5}">
                      <a16:colId xmlns:a16="http://schemas.microsoft.com/office/drawing/2014/main" val="3197563121"/>
                    </a:ext>
                  </a:extLst>
                </a:gridCol>
                <a:gridCol w="4686613">
                  <a:extLst>
                    <a:ext uri="{9D8B030D-6E8A-4147-A177-3AD203B41FA5}">
                      <a16:colId xmlns:a16="http://schemas.microsoft.com/office/drawing/2014/main" val="324934820"/>
                    </a:ext>
                  </a:extLst>
                </a:gridCol>
              </a:tblGrid>
              <a:tr h="115097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045636"/>
                  </a:ext>
                </a:extLst>
              </a:tr>
              <a:tr h="907178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Diagnosis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examination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automated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373730"/>
                  </a:ext>
                </a:extLst>
              </a:tr>
              <a:tr h="907178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524181"/>
                  </a:ext>
                </a:extLst>
              </a:tr>
              <a:tr h="1189411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using Vision Transformer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566780"/>
                  </a:ext>
                </a:extLst>
              </a:tr>
              <a:tr h="1189411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large-scale screening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199104"/>
                  </a:ext>
                </a:extLst>
              </a:tr>
              <a:tr h="1189411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hospital visit</a:t>
                      </a:r>
                    </a:p>
                    <a:p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221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735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F072A-824A-8597-EBF1-95FE62C1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ED73502-111E-1D08-27EE-B12A9B9DEF2A}"/>
              </a:ext>
            </a:extLst>
          </p:cNvPr>
          <p:cNvSpPr txBox="1"/>
          <p:nvPr/>
        </p:nvSpPr>
        <p:spPr>
          <a:xfrm rot="10800000" flipV="1">
            <a:off x="4571999" y="3641153"/>
            <a:ext cx="11897951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DATA FLOW DIAGRAM 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2D752D8-A2E6-E142-F561-AEBB0B197EE9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D98BF01-783E-14F3-90D4-0E6E0357C963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5D3F102-C4C4-EC82-B42C-BD7041E77736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E4017DA-3BB5-1A8C-BF65-4749A69AE993}"/>
              </a:ext>
            </a:extLst>
          </p:cNvPr>
          <p:cNvGrpSpPr/>
          <p:nvPr/>
        </p:nvGrpSpPr>
        <p:grpSpPr>
          <a:xfrm>
            <a:off x="17103111" y="-66276"/>
            <a:ext cx="1258020" cy="1655660"/>
            <a:chOff x="0" y="0"/>
            <a:chExt cx="331330" cy="436059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A2A9010-09F8-01C2-0C9D-2B1A805ECC13}"/>
                </a:ext>
              </a:extLst>
            </p:cNvPr>
            <p:cNvSpPr/>
            <p:nvPr/>
          </p:nvSpPr>
          <p:spPr>
            <a:xfrm>
              <a:off x="0" y="0"/>
              <a:ext cx="331330" cy="436059"/>
            </a:xfrm>
            <a:custGeom>
              <a:avLst/>
              <a:gdLst/>
              <a:ahLst/>
              <a:cxnLst/>
              <a:rect l="l" t="t" r="r" b="b"/>
              <a:pathLst>
                <a:path w="331330" h="436059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A51B604-0369-E0B8-6228-5C7FAC338482}"/>
                </a:ext>
              </a:extLst>
            </p:cNvPr>
            <p:cNvSpPr txBox="1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856D3BBA-B7D3-3E2D-8562-0B240BD23529}"/>
              </a:ext>
            </a:extLst>
          </p:cNvPr>
          <p:cNvGrpSpPr/>
          <p:nvPr/>
        </p:nvGrpSpPr>
        <p:grpSpPr>
          <a:xfrm rot="-5400000" flipH="1">
            <a:off x="8630909" y="515609"/>
            <a:ext cx="264183" cy="8382002"/>
            <a:chOff x="0" y="-192881"/>
            <a:chExt cx="301173" cy="7397303"/>
          </a:xfrm>
        </p:grpSpPr>
        <p:grpSp>
          <p:nvGrpSpPr>
            <p:cNvPr id="11" name="Group 6">
              <a:extLst>
                <a:ext uri="{FF2B5EF4-FFF2-40B4-BE49-F238E27FC236}">
                  <a16:creationId xmlns:a16="http://schemas.microsoft.com/office/drawing/2014/main" id="{1B63787B-A51E-F2B6-C7CD-33E0A0B757BD}"/>
                </a:ext>
              </a:extLst>
            </p:cNvPr>
            <p:cNvGrpSpPr/>
            <p:nvPr/>
          </p:nvGrpSpPr>
          <p:grpSpPr>
            <a:xfrm>
              <a:off x="0" y="-192881"/>
              <a:ext cx="301173" cy="7397303"/>
              <a:chOff x="0" y="-38100"/>
              <a:chExt cx="59491" cy="1461196"/>
            </a:xfrm>
          </p:grpSpPr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E0EEBD8B-A956-C7B3-9B59-440214BC8D4A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8A30F226-65FD-F442-C492-B6BFDBD1046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BBB89E99-0C0F-F19F-9527-F9422D795E3B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6" name="Freeform 10">
                <a:extLst>
                  <a:ext uri="{FF2B5EF4-FFF2-40B4-BE49-F238E27FC236}">
                    <a16:creationId xmlns:a16="http://schemas.microsoft.com/office/drawing/2014/main" id="{524C6804-F741-5FC6-998E-C4D22F6960AF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1">
                <a:extLst>
                  <a:ext uri="{FF2B5EF4-FFF2-40B4-BE49-F238E27FC236}">
                    <a16:creationId xmlns:a16="http://schemas.microsoft.com/office/drawing/2014/main" id="{090F53AD-3272-4D92-A858-639B8B37CDE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7EA2AC-7225-EEF0-6A0B-587227E373E7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8729BB92-F365-9089-D33B-56E9B0095D36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00D15E-F8B1-6100-C40B-4C35B02B76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0931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50215-2C8C-802A-1DB8-B174A82F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5E85717-BC03-01CC-882A-4DA5F1637839}"/>
              </a:ext>
            </a:extLst>
          </p:cNvPr>
          <p:cNvSpPr txBox="1"/>
          <p:nvPr/>
        </p:nvSpPr>
        <p:spPr>
          <a:xfrm>
            <a:off x="1208080" y="342900"/>
            <a:ext cx="10126578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DFD Level 0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1748BD34-2634-CF73-8CDF-187BD5BF2F13}"/>
              </a:ext>
            </a:extLst>
          </p:cNvPr>
          <p:cNvGrpSpPr/>
          <p:nvPr/>
        </p:nvGrpSpPr>
        <p:grpSpPr>
          <a:xfrm rot="-5400000" flipH="1">
            <a:off x="3069669" y="-580672"/>
            <a:ext cx="357383" cy="4080563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381D280D-B13E-B01F-AE85-93851F934F02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ED6E839A-159B-442D-4155-6C3F8788962E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9471C07C-FDC7-5798-771E-7000B3295E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79713C79-953B-1126-2CF2-466650378C4E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BE87666-59E0-D59C-F767-C45FF7C310AC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BAA6176-1A9D-48E0-C154-6DC419BB01E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25AFE8A3-6366-E2B5-A908-50FDD6C2DC74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A44162AA-FB52-4AD4-90B8-4C60CAEBA647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8FA8D392-F2E8-8A66-7C0C-E3969D45D69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05C743E5-D92A-FB95-21EA-1E1CF91BC717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1EA6C53-3F75-4058-0C07-46E66D79F356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EE3EE5B7-479F-3EF5-32A1-C57E02B91612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210088F-DEB9-49B6-F024-A5564C5F7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583" y="1280916"/>
            <a:ext cx="6046017" cy="797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65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2D393-5DC0-8728-46DF-B5E4F175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A5C8A3A-B51D-44F4-E48E-2E0BE33F121B}"/>
              </a:ext>
            </a:extLst>
          </p:cNvPr>
          <p:cNvSpPr txBox="1"/>
          <p:nvPr/>
        </p:nvSpPr>
        <p:spPr>
          <a:xfrm>
            <a:off x="990600" y="114300"/>
            <a:ext cx="10206139" cy="1975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DFD Level 1</a:t>
            </a:r>
          </a:p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endParaRPr lang="en-US" sz="6000" b="1" dirty="0">
              <a:solidFill>
                <a:srgbClr val="253439"/>
              </a:solidFill>
              <a:latin typeface="Times New Roman" panose="02020603050405020304" pitchFamily="18" charset="0"/>
              <a:ea typeface="Lato Bold"/>
              <a:cs typeface="Times New Roman" panose="02020603050405020304" pitchFamily="18" charset="0"/>
              <a:sym typeface="Lato Bold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BDA6412C-B0E5-BAE1-747D-4F15E8518331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E3EAA0F-61DD-CD09-F5D3-039E5F0C88A9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D27F4F48-4273-722C-ECFB-289FDE1DC3E5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4E43C01-73ED-9C8F-2553-6F5777857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866900"/>
            <a:ext cx="11353800" cy="7441772"/>
          </a:xfrm>
          <a:prstGeom prst="rect">
            <a:avLst/>
          </a:prstGeom>
        </p:spPr>
      </p:pic>
      <p:grpSp>
        <p:nvGrpSpPr>
          <p:cNvPr id="27" name="Group 5">
            <a:extLst>
              <a:ext uri="{FF2B5EF4-FFF2-40B4-BE49-F238E27FC236}">
                <a16:creationId xmlns:a16="http://schemas.microsoft.com/office/drawing/2014/main" id="{E2318D2D-9D8C-5BB1-ACE0-18640AD3A89E}"/>
              </a:ext>
            </a:extLst>
          </p:cNvPr>
          <p:cNvGrpSpPr/>
          <p:nvPr/>
        </p:nvGrpSpPr>
        <p:grpSpPr>
          <a:xfrm rot="-5400000" flipH="1">
            <a:off x="2852190" y="-877117"/>
            <a:ext cx="357383" cy="4080563"/>
            <a:chOff x="0" y="0"/>
            <a:chExt cx="301173" cy="7204422"/>
          </a:xfrm>
        </p:grpSpPr>
        <p:grpSp>
          <p:nvGrpSpPr>
            <p:cNvPr id="28" name="Group 6">
              <a:extLst>
                <a:ext uri="{FF2B5EF4-FFF2-40B4-BE49-F238E27FC236}">
                  <a16:creationId xmlns:a16="http://schemas.microsoft.com/office/drawing/2014/main" id="{EC714F23-E14F-46D6-AA2D-DA41DD89CF22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35" name="Freeform 7">
                <a:extLst>
                  <a:ext uri="{FF2B5EF4-FFF2-40B4-BE49-F238E27FC236}">
                    <a16:creationId xmlns:a16="http://schemas.microsoft.com/office/drawing/2014/main" id="{B085B16B-CB8C-CA32-03EB-5DCEF2880170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TextBox 8">
                <a:extLst>
                  <a:ext uri="{FF2B5EF4-FFF2-40B4-BE49-F238E27FC236}">
                    <a16:creationId xmlns:a16="http://schemas.microsoft.com/office/drawing/2014/main" id="{C9304D48-997F-4566-98C2-7C1CAFB765A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29" name="Group 9">
              <a:extLst>
                <a:ext uri="{FF2B5EF4-FFF2-40B4-BE49-F238E27FC236}">
                  <a16:creationId xmlns:a16="http://schemas.microsoft.com/office/drawing/2014/main" id="{82C996A1-C444-2AF9-440A-63D236656DC0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33" name="Freeform 10">
                <a:extLst>
                  <a:ext uri="{FF2B5EF4-FFF2-40B4-BE49-F238E27FC236}">
                    <a16:creationId xmlns:a16="http://schemas.microsoft.com/office/drawing/2014/main" id="{0D001A25-0F8B-14EB-6E03-4B4B59E5BBB9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TextBox 11">
                <a:extLst>
                  <a:ext uri="{FF2B5EF4-FFF2-40B4-BE49-F238E27FC236}">
                    <a16:creationId xmlns:a16="http://schemas.microsoft.com/office/drawing/2014/main" id="{09150E0B-D703-36B8-62B7-E0ED3A5FC8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30" name="Group 12">
              <a:extLst>
                <a:ext uri="{FF2B5EF4-FFF2-40B4-BE49-F238E27FC236}">
                  <a16:creationId xmlns:a16="http://schemas.microsoft.com/office/drawing/2014/main" id="{FBAD1B3F-D1AE-4A64-CA73-40B5ACFF4A2F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C807B4BC-AEB0-7CA3-7AFD-0BDDD2581B23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TextBox 14">
                <a:extLst>
                  <a:ext uri="{FF2B5EF4-FFF2-40B4-BE49-F238E27FC236}">
                    <a16:creationId xmlns:a16="http://schemas.microsoft.com/office/drawing/2014/main" id="{6634A8A7-D719-1D95-ACC8-BE7F22E509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3372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C1F15-2A4B-BE99-9202-D42603CE7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131C005-C1FD-9A7C-2457-9D721D3653A3}"/>
              </a:ext>
            </a:extLst>
          </p:cNvPr>
          <p:cNvSpPr txBox="1"/>
          <p:nvPr/>
        </p:nvSpPr>
        <p:spPr>
          <a:xfrm>
            <a:off x="1066155" y="723900"/>
            <a:ext cx="10268503" cy="931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Usecase</a:t>
            </a:r>
            <a:r>
              <a:rPr lang="en-US" sz="54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 Diagram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515E1CB2-11A8-AF25-0BAD-ED9D3C9144A0}"/>
              </a:ext>
            </a:extLst>
          </p:cNvPr>
          <p:cNvGrpSpPr/>
          <p:nvPr/>
        </p:nvGrpSpPr>
        <p:grpSpPr>
          <a:xfrm rot="-5400000" flipH="1">
            <a:off x="3544562" y="-608339"/>
            <a:ext cx="226077" cy="4724402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54A843C7-D616-7EE9-726C-4C03FCB1D5CE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0C94CAFA-1201-DA88-60C9-5C15D7B05454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E4680F00-54A8-4385-ED8A-CC388158550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6DA82EF1-6F14-7D6E-52A2-50E4B9D97364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FD91819-F445-125D-F74A-25DE29053FCA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213D60C-9B38-5656-CB2C-43EA238D80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67022D7A-FC4B-0799-AA6E-AC5F00B51BB1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2F76BE3C-2811-F52E-88FB-568F8EC33D06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D2C885C6-DD1B-996A-6AC7-ADF59919F82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9F6F323E-5123-45D3-4976-FF0697B1424B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4056A90-7A41-95EA-90CD-6B4F320AB441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01C4A734-412B-3A93-A565-E80B3D3ADF2B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7B3BFBD-06A1-4BA2-7F0C-FFF7EE7B0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217" y="700548"/>
            <a:ext cx="8309255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19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DE0E5-D353-3640-E316-8E368CC20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FBC6058-C165-0E78-F60A-F8C178A0ACBF}"/>
              </a:ext>
            </a:extLst>
          </p:cNvPr>
          <p:cNvSpPr txBox="1"/>
          <p:nvPr/>
        </p:nvSpPr>
        <p:spPr>
          <a:xfrm>
            <a:off x="1066155" y="723900"/>
            <a:ext cx="10268503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Class Diagram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EF8E5880-3CB9-0297-7CE3-9DAE7AB9971C}"/>
              </a:ext>
            </a:extLst>
          </p:cNvPr>
          <p:cNvGrpSpPr/>
          <p:nvPr/>
        </p:nvGrpSpPr>
        <p:grpSpPr>
          <a:xfrm rot="-5400000" flipH="1">
            <a:off x="3354061" y="-494040"/>
            <a:ext cx="302279" cy="4572002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210F7825-0E16-59D1-B641-F369F4DEAF55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8162BE5E-6134-AEC3-9173-5D041FC4EF7B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056681F1-FF73-D775-B659-15613756E62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F136BB47-A029-0D8C-E1C1-90098E9E475A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A88D15A-3363-76A5-EACB-2853B1D82A4A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A3677FB-6319-3C80-1EFA-5E04264241D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F9B954C5-C17D-AA0D-1169-A5486E62BB36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D1B76231-9574-4D96-B772-79D2343D76B0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D4E6AF59-9371-7C19-C47D-2035F6D25FE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F145A7B4-C4BC-4B59-9915-7F348A3F2960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6C2377BA-F62C-7601-6E31-9805DC0F5FDA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A71389DD-51EB-4154-8474-C532A77299BA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CE6F0F5-71B4-099F-DEFD-04ECE8093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564" y="342900"/>
            <a:ext cx="7818084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31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F9D48-7AE1-D8B7-A41B-7AF3955D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2F3DABC-1E9C-2A20-43F8-593DF36E39FD}"/>
              </a:ext>
            </a:extLst>
          </p:cNvPr>
          <p:cNvSpPr txBox="1"/>
          <p:nvPr/>
        </p:nvSpPr>
        <p:spPr>
          <a:xfrm>
            <a:off x="1066155" y="723900"/>
            <a:ext cx="10268503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State Diagram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AD881843-218E-3DAB-AAEA-724A0DBEB448}"/>
              </a:ext>
            </a:extLst>
          </p:cNvPr>
          <p:cNvGrpSpPr/>
          <p:nvPr/>
        </p:nvGrpSpPr>
        <p:grpSpPr>
          <a:xfrm rot="-5400000" flipH="1">
            <a:off x="3354061" y="-494040"/>
            <a:ext cx="226079" cy="4495802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B3BD8B59-D12E-D2DD-0CEE-95DEC5AA725D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6108C639-B496-6052-7E59-C4B9F10E5937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B3AFD0C4-093B-EB3B-C2CD-2FFB31B04A0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4A71602A-A20E-B8B9-7624-970E593CDE4A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1A377A6-0DAE-FD35-B94D-47986A27C6C2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912961A-264A-97E1-7CC1-B3482C82BF8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2C97C038-69DB-C4DC-BD00-6E42D0251845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185AD803-D216-9677-C6E6-8078D4B5C270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38198149-379C-B6CC-F444-BAED5A37AE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B56B154D-411D-AFBD-C4CD-11D0BEC47AA1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B7B85BB-D7CB-1664-C51A-487823606229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39EA2B65-4A74-F9F7-455A-65C60B3977D2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12B189E-9AAB-B85C-219A-81E2720D7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0"/>
            <a:ext cx="44196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215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26BE5-8A66-C7C8-0F44-FB334600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A8E7290-D4D4-F9BA-9C15-3468E5E145C8}"/>
              </a:ext>
            </a:extLst>
          </p:cNvPr>
          <p:cNvSpPr txBox="1"/>
          <p:nvPr/>
        </p:nvSpPr>
        <p:spPr>
          <a:xfrm>
            <a:off x="1066155" y="723900"/>
            <a:ext cx="10268503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Activity Diagram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E15A130D-EE41-76DC-3532-B3A7F3948768}"/>
              </a:ext>
            </a:extLst>
          </p:cNvPr>
          <p:cNvGrpSpPr/>
          <p:nvPr/>
        </p:nvGrpSpPr>
        <p:grpSpPr>
          <a:xfrm rot="-5400000" flipH="1">
            <a:off x="3811261" y="-951239"/>
            <a:ext cx="226080" cy="5410202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5D38BEC1-8391-A328-2223-52C7F3F6A6C2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C2D0B080-458B-021B-3C56-EE8A0557DAF0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A951AE8B-43D4-5F91-3E41-23D9529346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E1E136A8-FF73-98D6-83DE-7BF1ADFC3FD4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F074FE7-6D4B-1EBF-A430-F6976FDF8911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E6E520A-15B7-BF6B-E2CB-AB8E8353384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E211C22F-E2A6-A964-A686-A2790D7C8FE5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58E2FD92-6B97-DFE9-28BE-08AC39577824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D942B6F1-9949-A07B-879F-03DD18F5701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8D961DFB-9DB1-2793-BC00-74D0AFA140F4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0C2555DE-E666-0723-D888-3ADAAB5305D2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B9965068-9BAE-3992-48A7-B490D935117D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6285978-AB3A-C1E0-E2CB-106729139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895" y="723900"/>
            <a:ext cx="8686800" cy="834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38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E601D-159A-860F-F218-562EAEB25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1C72CDC-D8FE-91BE-90E0-0F1BFC99336E}"/>
              </a:ext>
            </a:extLst>
          </p:cNvPr>
          <p:cNvSpPr txBox="1"/>
          <p:nvPr/>
        </p:nvSpPr>
        <p:spPr>
          <a:xfrm>
            <a:off x="1066155" y="723900"/>
            <a:ext cx="10268503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Sequence Diagram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9D88C6CA-8B95-4AB0-7FE2-AD811F81B03D}"/>
              </a:ext>
            </a:extLst>
          </p:cNvPr>
          <p:cNvGrpSpPr/>
          <p:nvPr/>
        </p:nvGrpSpPr>
        <p:grpSpPr>
          <a:xfrm rot="-5400000" flipH="1">
            <a:off x="4001761" y="-1141739"/>
            <a:ext cx="302277" cy="5867400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4960E035-3591-3449-1A0D-A2F1D4F0EC0A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C85955DF-A733-A778-5907-0BE76970D6D3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517866A6-29E5-C704-D452-3032138B062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34C604B8-ED5B-851D-295D-BD46F6370558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07FF20E-5CB6-8F0B-B37F-177624DC0E74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083B2A4-4EE6-9503-46B7-2647238AB0C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92A097E5-AE6C-B3C0-98E6-EAF14AB92667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D9E3FE00-C0A0-0FDD-6F20-452C722D90DC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022A72D6-82C6-B720-B1FF-9CC8C2DD425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3036AD1D-3476-FA22-396A-847966786DB5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650FD8ED-032B-4A3F-CC3E-CBD9ADC35D3A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339845EA-2DA4-EC5B-36DC-4FEEF9F9E122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49AC9DC-E7B6-E9E7-8C44-2AB3F8274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038" y="571500"/>
            <a:ext cx="7381875" cy="85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4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AF2B3-1B44-E540-C79C-95B33D24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E8D84ED-15AE-9046-E5A4-92484D2486FD}"/>
              </a:ext>
            </a:extLst>
          </p:cNvPr>
          <p:cNvSpPr txBox="1"/>
          <p:nvPr/>
        </p:nvSpPr>
        <p:spPr>
          <a:xfrm>
            <a:off x="1066155" y="723900"/>
            <a:ext cx="10268503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Architecture Diagram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57F94628-C98C-B780-BB0E-BEC79459B9E4}"/>
              </a:ext>
            </a:extLst>
          </p:cNvPr>
          <p:cNvGrpSpPr/>
          <p:nvPr/>
        </p:nvGrpSpPr>
        <p:grpSpPr>
          <a:xfrm rot="-5400000">
            <a:off x="4550403" y="-1736099"/>
            <a:ext cx="271795" cy="6934202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61C8D05C-4444-6485-7355-0FB7C094481C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5492EA7F-F4B2-8603-AEAB-B4196AB99209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BC385D50-EE36-BF85-8B96-F20CA999F7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61DD8C5A-A76E-98CC-4A0B-EA22658EC9FD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DB08707-1BFD-948E-CA54-85922A022B30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FB2A08F-544B-0830-B096-264FC3F745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1E0DCEB7-E986-C542-4B5F-F89A0508F490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917F7E66-22C1-A20F-20AF-5A00069C6641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FD478F15-998E-85D9-CF50-B7F06A87EDC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669C8766-4B70-8DBA-C3DB-9FF0552E4674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4EAB7BB2-3656-E4E3-056B-C7137768E042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BEE69795-2597-45E2-CE84-3B377F1C73F2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7E67F93-34B5-1EA8-2CA0-CAE8E541D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140" y="2548603"/>
            <a:ext cx="107442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27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B0376-F55C-3432-3867-7B32EDE68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B7A815F-720D-7293-0A84-D05B1A862013}"/>
              </a:ext>
            </a:extLst>
          </p:cNvPr>
          <p:cNvSpPr txBox="1"/>
          <p:nvPr/>
        </p:nvSpPr>
        <p:spPr>
          <a:xfrm>
            <a:off x="1600200" y="2856007"/>
            <a:ext cx="11789002" cy="8374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31"/>
              </a:lnSpc>
            </a:pPr>
            <a:endParaRPr sz="2800" dirty="0"/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IN" sz="2800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U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 uploads retinal image.</a:t>
            </a:r>
            <a:endParaRPr lang="en-US" sz="2800" u="none" strike="noStrike" spc="-79" dirty="0">
              <a:solidFill>
                <a:srgbClr val="1C191A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IN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mage is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u="none" strike="noStrike" spc="-79" dirty="0">
              <a:solidFill>
                <a:srgbClr val="1C191A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mage is fed into Vision Transformer model.</a:t>
            </a:r>
            <a:endParaRPr lang="en-US" sz="2800" u="none" strike="noStrike" spc="-79" dirty="0">
              <a:solidFill>
                <a:srgbClr val="1C191A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IN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odel extracts features</a:t>
            </a:r>
            <a:endParaRPr lang="en-US" sz="2800" u="none" strike="noStrike" spc="-79" dirty="0">
              <a:solidFill>
                <a:srgbClr val="1C191A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IN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odel predicts severity class.</a:t>
            </a:r>
          </a:p>
          <a:p>
            <a:pPr marL="45720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 displays result with confidence score</a:t>
            </a:r>
            <a:r>
              <a:rPr lang="en-US" sz="2800" dirty="0"/>
              <a:t>.</a:t>
            </a:r>
          </a:p>
          <a:p>
            <a:pPr lvl="0" algn="just">
              <a:lnSpc>
                <a:spcPts val="5531"/>
              </a:lnSpc>
              <a:spcBef>
                <a:spcPct val="0"/>
              </a:spcBef>
            </a:pPr>
            <a:endParaRPr lang="en-US" sz="3200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just">
              <a:lnSpc>
                <a:spcPts val="5531"/>
              </a:lnSpc>
              <a:spcBef>
                <a:spcPct val="0"/>
              </a:spcBef>
            </a:pPr>
            <a:endParaRPr lang="en-US" sz="3200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773215D-B525-9799-EEF1-FEC5024A8F46}"/>
              </a:ext>
            </a:extLst>
          </p:cNvPr>
          <p:cNvSpPr txBox="1"/>
          <p:nvPr/>
        </p:nvSpPr>
        <p:spPr>
          <a:xfrm>
            <a:off x="1208080" y="1676400"/>
            <a:ext cx="10126578" cy="931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Algorithm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4CECB88C-D655-9D26-EB76-C8C5D1378DC5}"/>
              </a:ext>
            </a:extLst>
          </p:cNvPr>
          <p:cNvGrpSpPr/>
          <p:nvPr/>
        </p:nvGrpSpPr>
        <p:grpSpPr>
          <a:xfrm rot="-5400000" flipH="1">
            <a:off x="2606296" y="1195103"/>
            <a:ext cx="262688" cy="3059120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B16C6764-508C-C6E9-A7B0-7CCAAEC19108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F4BFB362-E29B-E6DC-5324-895C079923D7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5DA2D987-E908-6A8F-C1D7-ADDAA2BB6D8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78374C53-C5D3-94DB-AB4C-2F8AC06597A4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65750D0-6768-D637-A6E0-D8A3CF8F6F7C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40A6A72-0738-BBCC-1C1A-288FA1DD3F3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41649989-30DF-4BB0-594B-210D81C0CD46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BD339570-1E5B-8A71-A56B-4C903849E0A8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C0FE958A-C546-4C12-4DB1-252A7148928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9C90071F-AD28-91D2-5329-10AA7BB6FEA9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2D5FD334-ACAF-E854-E501-ED6100E78DE3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53AC24E5-05C4-EEED-63C3-076A01A9A0D7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38477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AD1F1-F95D-574B-0ADF-BC415AFEC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E9B4487-2599-B08D-CA98-779F317F017E}"/>
              </a:ext>
            </a:extLst>
          </p:cNvPr>
          <p:cNvSpPr txBox="1"/>
          <p:nvPr/>
        </p:nvSpPr>
        <p:spPr>
          <a:xfrm>
            <a:off x="1600200" y="2856007"/>
            <a:ext cx="11789002" cy="766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31"/>
              </a:lnSpc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odel accuracy depends on dataset quality.</a:t>
            </a:r>
            <a:endParaRPr lang="en-US" sz="2800" u="none" strike="noStrike" spc="-79" dirty="0">
              <a:solidFill>
                <a:srgbClr val="1C191A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IN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equires high computational power.</a:t>
            </a: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nternet required for web system.</a:t>
            </a: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IN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odel extracts features</a:t>
            </a:r>
            <a:endParaRPr lang="en-US" sz="2800" u="none" strike="noStrike" spc="-79" dirty="0">
              <a:solidFill>
                <a:srgbClr val="1C191A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u="none" strike="noStrike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 not replace expert ophthalmologists completely.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ncorrect image quality affects prediction.</a:t>
            </a:r>
            <a:endParaRPr lang="en-US" sz="2800" spc="-79" dirty="0">
              <a:solidFill>
                <a:srgbClr val="1C191A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lvl="0" algn="just">
              <a:lnSpc>
                <a:spcPts val="5531"/>
              </a:lnSpc>
              <a:spcBef>
                <a:spcPct val="0"/>
              </a:spcBef>
            </a:pPr>
            <a:endParaRPr lang="en-US" sz="3200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EF9ABBA-0F92-2846-FF83-1119D432EB6D}"/>
              </a:ext>
            </a:extLst>
          </p:cNvPr>
          <p:cNvSpPr txBox="1"/>
          <p:nvPr/>
        </p:nvSpPr>
        <p:spPr>
          <a:xfrm>
            <a:off x="1208080" y="1676400"/>
            <a:ext cx="10126578" cy="94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Limitations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D15CB5BA-A143-FC90-9CB0-77E6277D65F5}"/>
              </a:ext>
            </a:extLst>
          </p:cNvPr>
          <p:cNvGrpSpPr/>
          <p:nvPr/>
        </p:nvGrpSpPr>
        <p:grpSpPr>
          <a:xfrm rot="-5400000" flipH="1">
            <a:off x="2950167" y="853173"/>
            <a:ext cx="287788" cy="3717882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B4655A27-733D-D349-AF79-F26F7FF708B5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77B1CE67-E514-08BF-552C-FD9CA5FE8BC3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A63406E7-C8CA-D5B7-02E6-3A38CE54E9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534E78C0-D5C0-B321-E821-BF88938FB790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EFF7093-C6F3-570E-866E-E2BB710ACB65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06C96EE-0186-45E0-A46E-E5C9994579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2C40F688-5FBB-9378-B731-C227550D286B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F982F665-4BEB-F2D4-7BE3-1479F9A5A52C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7BE29966-FDF1-D501-7A97-09EF5924D9C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584ABD2B-410F-2E54-3AF0-44031718FDFA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3377680C-893D-7541-01DF-89CD5C0DA727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CC34B48C-8B4C-9D6D-24DB-3ADE46FC3A27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9299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2B41C-88FF-961D-1870-624217E3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51EFB11-8A04-33BD-8BBA-E1928371EAE9}"/>
              </a:ext>
            </a:extLst>
          </p:cNvPr>
          <p:cNvSpPr txBox="1"/>
          <p:nvPr/>
        </p:nvSpPr>
        <p:spPr>
          <a:xfrm>
            <a:off x="1600199" y="2856007"/>
            <a:ext cx="14452061" cy="766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531"/>
              </a:lnSpc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easy retinal image screening.</a:t>
            </a:r>
            <a:endParaRPr lang="en-US" sz="2800" u="none" strike="noStrike" spc="-79" dirty="0">
              <a:solidFill>
                <a:srgbClr val="1C191A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diabetic retinopathy detection for faster diagnosis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spc="-79" dirty="0">
                <a:solidFill>
                  <a:srgbClr val="1C191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ntegration with IoT retinal cameras.</a:t>
            </a:r>
          </a:p>
          <a:p>
            <a:pPr marL="45720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detect multiple eye diseases along with diabetic retinopathy.</a:t>
            </a:r>
            <a:endParaRPr lang="en-US" sz="2800" u="none" strike="noStrike" spc="-79" dirty="0">
              <a:solidFill>
                <a:srgbClr val="1C191A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system using larger retinal image datasets for better accuracy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lnSpc>
                <a:spcPts val="5531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low-cost screening system for rural healthcare centers.</a:t>
            </a:r>
            <a:endParaRPr lang="en-US" sz="2800" spc="-79" dirty="0">
              <a:solidFill>
                <a:srgbClr val="1C191A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lvl="0" algn="just">
              <a:lnSpc>
                <a:spcPts val="5531"/>
              </a:lnSpc>
              <a:spcBef>
                <a:spcPct val="0"/>
              </a:spcBef>
            </a:pPr>
            <a:endParaRPr lang="en-US" sz="3200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5531"/>
              </a:lnSpc>
              <a:spcBef>
                <a:spcPct val="0"/>
              </a:spcBef>
            </a:pPr>
            <a:endParaRPr lang="en-US" sz="3200" u="none" strike="noStrike" spc="-7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D71025E-C66A-91F4-E4E6-89CF9240C3B4}"/>
              </a:ext>
            </a:extLst>
          </p:cNvPr>
          <p:cNvSpPr txBox="1"/>
          <p:nvPr/>
        </p:nvSpPr>
        <p:spPr>
          <a:xfrm>
            <a:off x="1208080" y="1676400"/>
            <a:ext cx="10126578" cy="94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Future Scope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34A41F4B-06DF-DA28-6F5B-99342D22AF81}"/>
              </a:ext>
            </a:extLst>
          </p:cNvPr>
          <p:cNvGrpSpPr/>
          <p:nvPr/>
        </p:nvGrpSpPr>
        <p:grpSpPr>
          <a:xfrm rot="-5400000" flipH="1">
            <a:off x="3203518" y="573125"/>
            <a:ext cx="304650" cy="4261114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2AFCC69D-DCFD-FC87-25B3-8ADC99C8F390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B4FFD87B-266F-19DA-1392-63C0822AF4E7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674407FF-2314-BF71-0CD4-38038148B60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FA90C05C-7717-3D27-8DD6-7266E6B214FB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A7A1BC7-A4F9-9205-F831-3ED3C211E08D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C3085E5-B4FF-A2CA-480A-4FCD698E4E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73B23BE1-319B-5D4D-7CAD-9D438692E338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8661F45C-2326-81DE-253E-7D9C946B2F6E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3021C2A2-09FE-B177-F485-176662CB6B1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7F530CB8-888B-CF13-D779-3FCB084212B0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7285463E-239C-D223-79FA-31A79464B549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9BF20CB1-C8EA-764C-CF87-9D409D129D16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6923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3C5771-B643-B91C-B10A-E6FA25AC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F3EE422-EFF8-EB6D-ACEF-9A364AE4D1BA}"/>
              </a:ext>
            </a:extLst>
          </p:cNvPr>
          <p:cNvSpPr txBox="1"/>
          <p:nvPr/>
        </p:nvSpPr>
        <p:spPr>
          <a:xfrm>
            <a:off x="1066155" y="723900"/>
            <a:ext cx="10268503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Project Link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17498883-3B14-74C5-518C-F624BA4AD6D9}"/>
              </a:ext>
            </a:extLst>
          </p:cNvPr>
          <p:cNvGrpSpPr/>
          <p:nvPr/>
        </p:nvGrpSpPr>
        <p:grpSpPr>
          <a:xfrm rot="-5400000" flipH="1">
            <a:off x="3011788" y="-302912"/>
            <a:ext cx="224826" cy="3962402"/>
            <a:chOff x="0" y="0"/>
            <a:chExt cx="301173" cy="720442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5EABE2C7-A25C-F405-7F0A-69342226D00D}"/>
                </a:ext>
              </a:extLst>
            </p:cNvPr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437832EA-01B6-37F7-3485-167923B9F379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4CB61DB6-D90F-70AF-8830-06F81139DF0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4695F5C0-1624-F460-C435-595ED316FAC5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2501EAD-81F3-F5FB-61C7-0FAC2B14BE7B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D658C74-F221-74CD-25CE-65F726B1FB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86C2FE26-9873-2473-994F-70B0B226EFFD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7209353C-0D0F-C01E-E850-65A9D10D5411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A9CCF9E7-A25E-3EBF-4032-6ABE7A33F73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EDAB5994-0571-F44B-ED12-B53CFACBE2FC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4DC6082-0DEF-8833-C8AA-C86194A87AB1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129EC945-A6F4-C0A9-A1E9-2D873BE48B93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8CC346D-4436-273D-BACA-DC0300DA9279}"/>
              </a:ext>
            </a:extLst>
          </p:cNvPr>
          <p:cNvSpPr txBox="1"/>
          <p:nvPr/>
        </p:nvSpPr>
        <p:spPr>
          <a:xfrm>
            <a:off x="1676400" y="3543300"/>
            <a:ext cx="8915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below to open the project  </a:t>
            </a:r>
            <a:r>
              <a:rPr lang="en-IN" sz="4000" dirty="0"/>
              <a:t>👇</a:t>
            </a:r>
          </a:p>
          <a:p>
            <a:endParaRPr lang="en-IN" sz="40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hlinkClick r:id="rId2"/>
              </a:rPr>
              <a:t>https://retinaaibyarj.streamlit.app</a:t>
            </a:r>
            <a:r>
              <a:rPr lang="en-IN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5035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33B35-A0C7-A41E-F0B7-C05480A85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46B9AEC-9F40-6C8E-E439-E744DEF78F3A}"/>
              </a:ext>
            </a:extLst>
          </p:cNvPr>
          <p:cNvSpPr txBox="1"/>
          <p:nvPr/>
        </p:nvSpPr>
        <p:spPr>
          <a:xfrm rot="10800000" flipV="1">
            <a:off x="6305321" y="3622103"/>
            <a:ext cx="10164626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253439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THANK YOU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6AD1A4C-9CF1-6C17-FFA1-E8EB76FA35F9}"/>
              </a:ext>
            </a:extLst>
          </p:cNvPr>
          <p:cNvGrpSpPr/>
          <p:nvPr/>
        </p:nvGrpSpPr>
        <p:grpSpPr>
          <a:xfrm>
            <a:off x="17103111" y="-218676"/>
            <a:ext cx="1410420" cy="10724351"/>
            <a:chOff x="0" y="0"/>
            <a:chExt cx="371469" cy="282452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4B5ECC8-53C8-B4C1-C31A-92DCB1E6A698}"/>
                </a:ext>
              </a:extLst>
            </p:cNvPr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9CA3972-DA18-C08D-3FCD-E0CD7022E45A}"/>
                </a:ext>
              </a:extLst>
            </p:cNvPr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B242644-EA68-19F5-D356-3A06C1B8C5E1}"/>
              </a:ext>
            </a:extLst>
          </p:cNvPr>
          <p:cNvGrpSpPr/>
          <p:nvPr/>
        </p:nvGrpSpPr>
        <p:grpSpPr>
          <a:xfrm>
            <a:off x="17103111" y="-66276"/>
            <a:ext cx="1258020" cy="1655660"/>
            <a:chOff x="0" y="0"/>
            <a:chExt cx="331330" cy="436059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DF1C363-ECA2-03F5-78FD-85406422EDAE}"/>
                </a:ext>
              </a:extLst>
            </p:cNvPr>
            <p:cNvSpPr/>
            <p:nvPr/>
          </p:nvSpPr>
          <p:spPr>
            <a:xfrm>
              <a:off x="0" y="0"/>
              <a:ext cx="331330" cy="436059"/>
            </a:xfrm>
            <a:custGeom>
              <a:avLst/>
              <a:gdLst/>
              <a:ahLst/>
              <a:cxnLst/>
              <a:rect l="l" t="t" r="r" b="b"/>
              <a:pathLst>
                <a:path w="331330" h="436059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E689FBF-A388-B919-C73B-0DE3A94FC75B}"/>
                </a:ext>
              </a:extLst>
            </p:cNvPr>
            <p:cNvSpPr txBox="1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2402E97F-C725-040A-E364-610A9E2C1578}"/>
              </a:ext>
            </a:extLst>
          </p:cNvPr>
          <p:cNvGrpSpPr/>
          <p:nvPr/>
        </p:nvGrpSpPr>
        <p:grpSpPr>
          <a:xfrm rot="-5400000" flipH="1">
            <a:off x="8477207" y="2495507"/>
            <a:ext cx="266785" cy="4419600"/>
            <a:chOff x="0" y="-192881"/>
            <a:chExt cx="301178" cy="7397303"/>
          </a:xfrm>
        </p:grpSpPr>
        <p:grpSp>
          <p:nvGrpSpPr>
            <p:cNvPr id="11" name="Group 6">
              <a:extLst>
                <a:ext uri="{FF2B5EF4-FFF2-40B4-BE49-F238E27FC236}">
                  <a16:creationId xmlns:a16="http://schemas.microsoft.com/office/drawing/2014/main" id="{E4B4EA27-0D5C-4F7F-6DAB-5A345EF1BE28}"/>
                </a:ext>
              </a:extLst>
            </p:cNvPr>
            <p:cNvGrpSpPr/>
            <p:nvPr/>
          </p:nvGrpSpPr>
          <p:grpSpPr>
            <a:xfrm>
              <a:off x="0" y="-192881"/>
              <a:ext cx="301178" cy="7397303"/>
              <a:chOff x="0" y="-38100"/>
              <a:chExt cx="59492" cy="1461196"/>
            </a:xfrm>
          </p:grpSpPr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D784A233-BA0E-2E86-516C-77E43F9EDC8D}"/>
                  </a:ext>
                </a:extLst>
              </p:cNvPr>
              <p:cNvSpPr/>
              <p:nvPr/>
            </p:nvSpPr>
            <p:spPr>
              <a:xfrm>
                <a:off x="0" y="0"/>
                <a:ext cx="59492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613AFFA1-7F80-985E-1793-7BA6F12BD3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5DA9D00B-3838-C97B-3CA9-014C0CB888E0}"/>
                </a:ext>
              </a:extLst>
            </p:cNvPr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6" name="Freeform 10">
                <a:extLst>
                  <a:ext uri="{FF2B5EF4-FFF2-40B4-BE49-F238E27FC236}">
                    <a16:creationId xmlns:a16="http://schemas.microsoft.com/office/drawing/2014/main" id="{ECBC86EE-ACFE-26C6-5A15-3A29DC892DF5}"/>
                  </a:ext>
                </a:extLst>
              </p:cNvPr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1">
                <a:extLst>
                  <a:ext uri="{FF2B5EF4-FFF2-40B4-BE49-F238E27FC236}">
                    <a16:creationId xmlns:a16="http://schemas.microsoft.com/office/drawing/2014/main" id="{C26B3800-AB60-69EF-E5F0-2BEFC9224C7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D126325-7ED5-17B4-E7E2-C99AEB5228D6}"/>
                </a:ext>
              </a:extLst>
            </p:cNvPr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7F7D10BB-5E8C-83FF-42D8-38E2A7D2221A}"/>
                  </a:ext>
                </a:extLst>
              </p:cNvPr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65A83E-998A-E0C2-99D0-8922C0B285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683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D9A238C0B4374389081141EEE654EE" ma:contentTypeVersion="6" ma:contentTypeDescription="Create a new document." ma:contentTypeScope="" ma:versionID="5033376c8d4d532b3382d89dddcfa11a">
  <xsd:schema xmlns:xsd="http://www.w3.org/2001/XMLSchema" xmlns:xs="http://www.w3.org/2001/XMLSchema" xmlns:p="http://schemas.microsoft.com/office/2006/metadata/properties" xmlns:ns3="9863de22-373f-436b-8677-d1f7ddeaf7d3" targetNamespace="http://schemas.microsoft.com/office/2006/metadata/properties" ma:root="true" ma:fieldsID="4009402f3d023d5dfd4a0dd8b919b469" ns3:_="">
    <xsd:import namespace="9863de22-373f-436b-8677-d1f7ddeaf7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63de22-373f-436b-8677-d1f7ddeaf7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63de22-373f-436b-8677-d1f7ddeaf7d3" xsi:nil="true"/>
  </documentManagement>
</p:properties>
</file>

<file path=customXml/itemProps1.xml><?xml version="1.0" encoding="utf-8"?>
<ds:datastoreItem xmlns:ds="http://schemas.openxmlformats.org/officeDocument/2006/customXml" ds:itemID="{8C6FE599-47AE-4344-B74C-3580ECC8C2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09790B-AAFB-4B5B-9017-2E37935E4D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63de22-373f-436b-8677-d1f7ddeaf7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E4E492-EBFF-4D87-801C-B138F473E6B5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9863de22-373f-436b-8677-d1f7ddeaf7d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899</Words>
  <Application>Microsoft Office PowerPoint</Application>
  <PresentationFormat>Custom</PresentationFormat>
  <Paragraphs>222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Times New Roman</vt:lpstr>
      <vt:lpstr>Calibri</vt:lpstr>
      <vt:lpstr>Lato Bold</vt:lpstr>
      <vt:lpstr>Arial</vt:lpstr>
      <vt:lpstr>Lato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Diabetic Retinopathy</dc:title>
  <dc:creator>SUMAYYA SHAFEEK</dc:creator>
  <cp:lastModifiedBy>arjun ajayakumar</cp:lastModifiedBy>
  <cp:revision>39</cp:revision>
  <dcterms:created xsi:type="dcterms:W3CDTF">2006-08-16T00:00:00Z</dcterms:created>
  <dcterms:modified xsi:type="dcterms:W3CDTF">2026-03-23T06:39:23Z</dcterms:modified>
  <dc:identifier>DAG_kU65DpI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0x01010086D9A238C0B4374389081141EEE654EE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2026-02-10T06:16:52Z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882aac5a-f715-465d-bc8e-139e4d1464cc</vt:lpwstr>
  </property>
  <property fmtid="{D5CDD505-2E9C-101B-9397-08002B2CF9AE}" pid="8" name="MSIP_Label_defa4170-0d19-0005-0004-bc88714345d2_ActionId">
    <vt:lpwstr>82903197-7329-4390-b2f5-60a78c3e5747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